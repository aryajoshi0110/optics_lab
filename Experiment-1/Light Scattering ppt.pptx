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sldIdLst>
    <p:sldId id="256" r:id="rId5"/>
    <p:sldId id="257" r:id="rId6"/>
    <p:sldId id="260" r:id="rId7"/>
    <p:sldId id="261" r:id="rId8"/>
    <p:sldId id="258" r:id="rId9"/>
    <p:sldId id="259" r:id="rId10"/>
    <p:sldId id="262" r:id="rId11"/>
  </p:sldIdLst>
  <p:sldSz cx="12192000" cy="6858000"/>
  <p:notesSz cx="6858000" cy="9144000"/>
  <p:embeddedFontLst>
    <p:embeddedFont>
      <p:font typeface="Cambria Math" panose="02040503050406030204" pitchFamily="18" charset="0"/>
      <p:regular r:id="rId12"/>
    </p:embeddedFont>
    <p:embeddedFont>
      <p:font typeface="Copperplate Gothic Bold" panose="020E0705020206020404" pitchFamily="3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A27866-C62B-414E-9F77-0569CADAC96C}" v="2" dt="2024-02-08T11:02:50.6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eamsy Manchanda" userId="S::dreamsymanchanda@iitb.ac.in::300b8550-7c3e-43dc-a1dd-1f6e41f3fb79" providerId="AD" clId="Web-{82A27866-C62B-414E-9F77-0569CADAC96C}"/>
    <pc:docChg chg="modSld">
      <pc:chgData name="Dreamsy Manchanda" userId="S::dreamsymanchanda@iitb.ac.in::300b8550-7c3e-43dc-a1dd-1f6e41f3fb79" providerId="AD" clId="Web-{82A27866-C62B-414E-9F77-0569CADAC96C}" dt="2024-02-08T11:02:50.610" v="1" actId="1076"/>
      <pc:docMkLst>
        <pc:docMk/>
      </pc:docMkLst>
      <pc:sldChg chg="modSp">
        <pc:chgData name="Dreamsy Manchanda" userId="S::dreamsymanchanda@iitb.ac.in::300b8550-7c3e-43dc-a1dd-1f6e41f3fb79" providerId="AD" clId="Web-{82A27866-C62B-414E-9F77-0569CADAC96C}" dt="2024-02-08T11:02:50.610" v="1" actId="1076"/>
        <pc:sldMkLst>
          <pc:docMk/>
          <pc:sldMk cId="1800761723" sldId="261"/>
        </pc:sldMkLst>
        <pc:spChg chg="mod">
          <ac:chgData name="Dreamsy Manchanda" userId="S::dreamsymanchanda@iitb.ac.in::300b8550-7c3e-43dc-a1dd-1f6e41f3fb79" providerId="AD" clId="Web-{82A27866-C62B-414E-9F77-0569CADAC96C}" dt="2024-02-08T11:02:50.610" v="1" actId="1076"/>
          <ac:spMkLst>
            <pc:docMk/>
            <pc:sldMk cId="1800761723" sldId="261"/>
            <ac:spMk id="10" creationId="{F7A87506-2723-1652-89EA-3DAFFF34C4B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17996-5A6A-E0FF-2C9F-C1744CC95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DC6F71-6D94-A8FC-A480-49E5A1E5B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04291-0393-9006-88CF-C02BDD4C2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A4162-8FE5-4EA2-AF27-A9A9BB28C430}" type="datetimeFigureOut">
              <a:rPr lang="en-IN" smtClean="0"/>
              <a:t>08-02-2024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6D9E7-D318-7C2E-A18C-0C7DD505A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45F1E-546B-999C-7497-862682CE5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5DD6F-D0FE-4493-9E39-CDB9452B779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6619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B32E1-0CCB-BBBD-B973-36FF7F449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534FC-7F26-6572-9F4B-8C64DAC52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BEAAB-AB9F-E4BA-EB5D-2BAA1054E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A4162-8FE5-4EA2-AF27-A9A9BB28C430}" type="datetimeFigureOut">
              <a:rPr lang="en-IN" smtClean="0"/>
              <a:t>08-02-2024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2BF78-1A25-3B5E-8712-544F81F1D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42487-42D0-3649-86E3-B92FDA2A6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5DD6F-D0FE-4493-9E39-CDB9452B779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7934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49700-4EE7-35BC-5728-47EFD9855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BBAFFC-6338-872E-ACCF-CC2DB1D75F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BEEBB-5BFC-7BD0-9F59-DA26BD43A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A4162-8FE5-4EA2-AF27-A9A9BB28C430}" type="datetimeFigureOut">
              <a:rPr lang="en-IN" smtClean="0"/>
              <a:t>08-02-2024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C23B1-23AA-AB16-289B-C9A511BDF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6799F-25B5-C138-0D2D-E4340CDF5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5DD6F-D0FE-4493-9E39-CDB9452B779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2769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06C89-D8FF-4E7A-2623-50DB72E35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3F624-9740-E597-4100-A907E68D5F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8AA5DE-F7AF-336E-1964-430189CD8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12E176-8280-5B6D-E674-77E191CCB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A4162-8FE5-4EA2-AF27-A9A9BB28C430}" type="datetimeFigureOut">
              <a:rPr lang="en-IN" smtClean="0"/>
              <a:t>08-02-2024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A1B95-86E7-E8E9-B965-2F92DB3BF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273D72-87FE-8108-A3A2-EFFB813E8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5DD6F-D0FE-4493-9E39-CDB9452B779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9946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61786-7E55-625D-71BC-CCED40B63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D8836-C9F6-012C-8332-47DB48E00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1CD796-411A-4739-6AD6-021284568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097D90-222E-D6E0-EEED-67D62D73A4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DFE0A8-13CD-82B4-A0BA-8F9646CDD1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0F570A-3C2B-7B8C-CA8D-5A55C87E2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A4162-8FE5-4EA2-AF27-A9A9BB28C430}" type="datetimeFigureOut">
              <a:rPr lang="en-IN" smtClean="0"/>
              <a:t>08-02-2024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FCC891-A615-C5FF-4B49-C9B743F51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3D1909-DC49-9FEB-10B0-F210117BC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5DD6F-D0FE-4493-9E39-CDB9452B779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2472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137DB-DA73-FBD4-AC13-3D3B1EFE0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D97DD1-60F7-FFF0-C94A-ABF86B821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A4162-8FE5-4EA2-AF27-A9A9BB28C430}" type="datetimeFigureOut">
              <a:rPr lang="en-IN" smtClean="0"/>
              <a:t>08-02-2024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BF22B2-7FB8-38E8-6D2B-DD6B3B166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05CD2F-8CF6-D07A-88AE-BD446EE8D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5DD6F-D0FE-4493-9E39-CDB9452B779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6781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BFA34D-A179-4733-8C43-38D326E88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A4162-8FE5-4EA2-AF27-A9A9BB28C430}" type="datetimeFigureOut">
              <a:rPr lang="en-IN" smtClean="0"/>
              <a:t>08-02-2024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401EEF-52F3-7291-4B3C-D7697AB37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52116B-953A-88DF-520A-D24F2D859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5DD6F-D0FE-4493-9E39-CDB9452B779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1126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1ABEA-73AE-4C10-93C2-E660389D9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BE254-F821-6D21-96CA-C1257D205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C586A4-B8AF-FE39-0D87-821A08BB1E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C7F135-FBE5-7A44-318F-E39579EE5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A4162-8FE5-4EA2-AF27-A9A9BB28C430}" type="datetimeFigureOut">
              <a:rPr lang="en-IN" smtClean="0"/>
              <a:t>08-02-2024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CA197-DA14-1EC5-FE3B-17BCD184A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592D9-6816-D025-4964-FDD45736D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5DD6F-D0FE-4493-9E39-CDB9452B779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5259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9D2AB-E3EE-DE8D-8E00-4E4DB5BAC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DD9720-4800-BCE8-4F39-B4FE99917D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2C7455-312D-FE45-EAC5-7812F53CF4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F28B61-F7FC-AD31-2000-E3890C3E8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A4162-8FE5-4EA2-AF27-A9A9BB28C430}" type="datetimeFigureOut">
              <a:rPr lang="en-IN" smtClean="0"/>
              <a:t>08-02-2024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A6A527-4111-939C-C4D0-099498D5E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C3462-F801-C60C-74C5-B7ADAD561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5DD6F-D0FE-4493-9E39-CDB9452B779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992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C8F06-24DB-254F-AAB5-3E12E1DC4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3BDBB7-D121-38FD-8A34-CE4BE9B06F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27197-F705-D9D7-4D39-92FC6D7A6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A4162-8FE5-4EA2-AF27-A9A9BB28C430}" type="datetimeFigureOut">
              <a:rPr lang="en-IN" smtClean="0"/>
              <a:t>08-02-2024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24E86-581E-CDD2-6C15-09EA6B79E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BB5BA-654A-96C9-6B1A-C29CF52F1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5DD6F-D0FE-4493-9E39-CDB9452B779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8325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1A0859-5F65-0B1F-4A17-E136D90D1B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4867D4-20DF-1ADF-45FA-808873E16E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ED3BA-16B7-D7F3-65A7-57B10AC02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A4162-8FE5-4EA2-AF27-A9A9BB28C430}" type="datetimeFigureOut">
              <a:rPr lang="en-IN" smtClean="0"/>
              <a:t>08-02-2024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91594-D853-42F2-41B8-90D72D172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D91F0-1E36-0264-AFAA-2B2B51C00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5DD6F-D0FE-4493-9E39-CDB9452B779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046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DC2769-82CA-4232-CA1F-AC2F766F3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F1D6D-5BFC-B2AF-58B0-871199196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408BB-7170-83C0-A11D-78EE3A31A9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A4162-8FE5-4EA2-AF27-A9A9BB28C430}" type="datetimeFigureOut">
              <a:rPr lang="en-IN" smtClean="0"/>
              <a:t>08-02-2024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9DFCC-ED93-C7ED-2E37-68D418E5EF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DCF23-1A21-C3E3-4BCB-2BEDAE0230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C5DD6F-D0FE-4493-9E39-CDB9452B779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8740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plaza.ufl.edu/dwhahn/Rayleigh%20and%20Mie%20Light%20Scattering.pdf" TargetMode="External"/><Relationship Id="rId7" Type="http://schemas.openxmlformats.org/officeDocument/2006/relationships/hyperlink" Target="https://www.ncbi.nlm.nih.gov/pmc/articles/PMC8662971/pdf/j-54-01832.pdf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bioxtas-raw.readthedocs.io/en/latest/saxs/saxs_guinier.html" TargetMode="External"/><Relationship Id="rId5" Type="http://schemas.openxmlformats.org/officeDocument/2006/relationships/hyperlink" Target="https://sites.google.com/a/umn.edu/mxp/student-projects/spring-2018/s18_mie-scattering" TargetMode="External"/><Relationship Id="rId4" Type="http://schemas.openxmlformats.org/officeDocument/2006/relationships/hyperlink" Target="http://hyperphysics.phy-astr.gsu.edu/hbase/atmos/blusky.html#c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5" name="Rectangle 104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C3F82B-1E2C-231D-5433-945DA10830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5071" y="248978"/>
            <a:ext cx="5927068" cy="30260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400" b="1" u="sng" kern="1200" dirty="0">
                <a:effectLst/>
                <a:latin typeface="Copperplate Gothic Bold" panose="020E0705020206020404" pitchFamily="34" charset="0"/>
              </a:rPr>
              <a:t>Expt.-1: Small Angle Light Scattering</a:t>
            </a:r>
            <a:endParaRPr lang="en-US" sz="5400" b="1" u="sng" kern="1200" dirty="0">
              <a:latin typeface="Copperplate Gothic Bold" panose="020E0705020206020404" pitchFamily="34" charset="0"/>
            </a:endParaRPr>
          </a:p>
        </p:txBody>
      </p:sp>
      <p:sp>
        <p:nvSpPr>
          <p:cNvPr id="1047" name="Rectangle 1046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E05AAF5-5341-495E-CB2A-7EA7D90378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023" y="4309065"/>
            <a:ext cx="6382139" cy="2017089"/>
          </a:xfrm>
        </p:spPr>
        <p:txBody>
          <a:bodyPr anchor="t">
            <a:no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Scattering: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redirection of light that takes place when an electromagnetic (EM) wave encounters an obstacle or non-homogeneity</a:t>
            </a:r>
            <a:r>
              <a:rPr lang="en-IN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Scattering is the reason behind blue sky, white clouds and red sun at sunrise and sunset.</a:t>
            </a:r>
          </a:p>
        </p:txBody>
      </p:sp>
      <p:pic>
        <p:nvPicPr>
          <p:cNvPr id="1026" name="Picture 2" descr="Why Is the Sky Blue? - Owlcation">
            <a:extLst>
              <a:ext uri="{FF2B5EF4-FFF2-40B4-BE49-F238E27FC236}">
                <a16:creationId xmlns:a16="http://schemas.microsoft.com/office/drawing/2014/main" id="{D3A47BEF-547D-8B1A-A6A3-60F83EB59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6573907" y="1684009"/>
            <a:ext cx="5163022" cy="3756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3" name="Rectangle 1052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725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F6E61CD-4CC0-810E-DAE0-9B6C9764D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06979" y="1082153"/>
            <a:ext cx="10577733" cy="2908881"/>
          </a:xfrm>
          <a:prstGeom prst="rect">
            <a:avLst/>
          </a:prstGeom>
          <a:noFill/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9252B6A-B0F8-8C93-FC0E-ACEE320A3EE0}"/>
              </a:ext>
            </a:extLst>
          </p:cNvPr>
          <p:cNvSpPr txBox="1"/>
          <p:nvPr/>
        </p:nvSpPr>
        <p:spPr>
          <a:xfrm>
            <a:off x="740075" y="4167496"/>
            <a:ext cx="53557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Rayleigh Scattering: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article size of the scatterer is much smaller than the incident light wavelength (2πr/λ &lt;&lt; 1).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Independent of particle size.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Uniform in all direction.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ECB8C9-C3F0-58E4-4D1F-F320CB0DC2E5}"/>
              </a:ext>
            </a:extLst>
          </p:cNvPr>
          <p:cNvSpPr txBox="1"/>
          <p:nvPr/>
        </p:nvSpPr>
        <p:spPr>
          <a:xfrm>
            <a:off x="6095846" y="4167496"/>
            <a:ext cx="53557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Mie Scattering: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Particle size is equivalent or greater than the </a:t>
            </a: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incident light wavelength  (2πr/λ ≥1).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Dependent on particle size.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Dominant in forward direction.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081C1B-68F1-85D8-92B0-C368510C02B9}"/>
              </a:ext>
            </a:extLst>
          </p:cNvPr>
          <p:cNvSpPr txBox="1"/>
          <p:nvPr/>
        </p:nvSpPr>
        <p:spPr>
          <a:xfrm>
            <a:off x="612480" y="125658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Types of Scattering</a:t>
            </a:r>
          </a:p>
        </p:txBody>
      </p:sp>
    </p:spTree>
    <p:extLst>
      <p:ext uri="{BB962C8B-B14F-4D97-AF65-F5344CB8AC3E}">
        <p14:creationId xmlns:p14="http://schemas.microsoft.com/office/powerpoint/2010/main" val="3970678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31A95F-541A-E7B1-D2C3-C2DE11D27B4C}"/>
              </a:ext>
            </a:extLst>
          </p:cNvPr>
          <p:cNvSpPr txBox="1"/>
          <p:nvPr/>
        </p:nvSpPr>
        <p:spPr>
          <a:xfrm>
            <a:off x="686834" y="1153572"/>
            <a:ext cx="3200400" cy="4461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 dirty="0">
                <a:solidFill>
                  <a:srgbClr val="FFFF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Motivation and Aim</a:t>
            </a:r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DC9CA4-BE8B-ABD6-62C6-94D59C405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 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Particle size plays important role in chemical and drug industry.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rate of chemical reactions, dissolution rate, effectiveness of drug delivery are some parameters which is affected by particle size.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determine the particle size by microscopic techniques (like Scanning Electron Microscopy and Atomic Force Microscopy).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Light Scattering provides us the cost-effective tool to determine the particle size.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-228600" algn="l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determine the particle size in a colloidal solution (polystyrene beads) using scattering of light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76926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2C36F2FA-1A54-C38A-1DB7-171044AF70B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23124" y="901503"/>
            <a:ext cx="7292015" cy="322345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B32E9AF-82BD-5931-434A-1CB9FF5230FE}"/>
              </a:ext>
            </a:extLst>
          </p:cNvPr>
          <p:cNvSpPr/>
          <p:nvPr/>
        </p:nvSpPr>
        <p:spPr>
          <a:xfrm>
            <a:off x="7037757" y="0"/>
            <a:ext cx="5154243" cy="6858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471B5A-1FD4-04FD-C10E-C9A27829D041}"/>
              </a:ext>
            </a:extLst>
          </p:cNvPr>
          <p:cNvSpPr txBox="1"/>
          <p:nvPr/>
        </p:nvSpPr>
        <p:spPr>
          <a:xfrm>
            <a:off x="612480" y="125658"/>
            <a:ext cx="10640754" cy="77584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Concept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6CEBAC8-F0DA-5785-0AE5-FFB8EEA9B6DD}"/>
                  </a:ext>
                </a:extLst>
              </p:cNvPr>
              <p:cNvSpPr txBox="1"/>
              <p:nvPr/>
            </p:nvSpPr>
            <p:spPr>
              <a:xfrm>
                <a:off x="612480" y="4240634"/>
                <a:ext cx="6425277" cy="24917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Small Angle Scattering: Limiting Case of Mie Scattering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Guinier’s approximation: Limiting case of Mie Scattering and a way to find particle size.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</a:rPr>
                  <a:t>Guinier’s approximation: At low q,                 </a:t>
                </a:r>
                <a14:m>
                  <m:oMath xmlns:m="http://schemas.openxmlformats.org/officeDocument/2006/math">
                    <m:r>
                      <a:rPr lang="en-US" sz="2400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𝐼</m:t>
                    </m:r>
                    <m:d>
                      <m:dPr>
                        <m:ctrlPr>
                          <a:rPr lang="en-IN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</m:d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𝐼</m:t>
                    </m:r>
                    <m:d>
                      <m:dPr>
                        <m:ctrlPr>
                          <a:rPr lang="en-IN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e>
                    </m:d>
                    <m:r>
                      <a:rPr lang="en-US" sz="2400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𝑒𝑥𝑝</m:t>
                    </m:r>
                    <m:d>
                      <m:dPr>
                        <m:ctrlPr>
                          <a:rPr lang="en-IN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 kern="10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IN" sz="24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  <m:sSup>
                          <m:sSupPr>
                            <m:ctrlPr>
                              <a:rPr lang="en-IN" sz="24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24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  <m:sSubSup>
                          <m:sSubSupPr>
                            <m:ctrlPr>
                              <a:rPr lang="en-IN" sz="24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4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sub>
                          <m:sup>
                            <m:r>
                              <a:rPr lang="en-US" sz="2400" i="1" kern="10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IN" sz="24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6CEBAC8-F0DA-5785-0AE5-FFB8EEA9B6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480" y="4240634"/>
                <a:ext cx="6425277" cy="2491708"/>
              </a:xfrm>
              <a:prstGeom prst="rect">
                <a:avLst/>
              </a:prstGeom>
              <a:blipFill>
                <a:blip r:embed="rId3"/>
                <a:stretch>
                  <a:fillRect l="-1233" t="-19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A87506-2723-1652-89EA-3DAFFF34C4B2}"/>
                  </a:ext>
                </a:extLst>
              </p:cNvPr>
              <p:cNvSpPr txBox="1"/>
              <p:nvPr/>
            </p:nvSpPr>
            <p:spPr>
              <a:xfrm>
                <a:off x="7124700" y="4300780"/>
                <a:ext cx="4974247" cy="24752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Guinier region: The region chosen for the linear fit.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The slop of the graph gives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I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sSubSup>
                      <m:sSubSupPr>
                        <m:ctrlPr>
                          <a:rPr kumimoji="0" lang="en-I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𝑔</m:t>
                        </m:r>
                      </m:sub>
                      <m:sup>
                        <m:r>
                          <a:rPr kumimoji="0" lang="en-US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Times New Roman" panose="02020603050405020304" pitchFamily="18" charset="0"/>
                    <a:cs typeface="+mn-cs"/>
                  </a:rPr>
                  <a:t>.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sz="2400" b="0" i="1" u="none" strike="noStrike" kern="1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kumimoji="0" lang="en-US" sz="2400" b="0" i="1" u="none" strike="noStrike" kern="1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kumimoji="0" lang="en-IN" sz="24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kumimoji="0" lang="en-IN" sz="24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kumimoji="0" lang="en-US" sz="24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kumimoji="0" lang="en-US" sz="2400" b="0" i="1" u="none" strike="noStrike" kern="1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  <m:sSub>
                      <m:sSubPr>
                        <m:ctrlPr>
                          <a:rPr kumimoji="0" lang="en-IN" sz="24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kumimoji="0" lang="en-US" sz="2400" b="0" i="1" u="none" strike="noStrike" kern="1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sub>
                    </m:sSub>
                  </m:oMath>
                </a14:m>
                <a:endParaRPr kumimoji="0" lang="en-IN" sz="2400" b="0" i="0" u="none" strike="noStrike" kern="1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For </a:t>
                </a:r>
                <a:r>
                  <a:rPr lang="en-US" sz="2400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spherical particle, 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q</a:t>
                </a:r>
                <a:r>
                  <a:rPr lang="en-US" sz="2400" baseline="-250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max</a:t>
                </a:r>
                <a:r>
                  <a:rPr lang="en-US" sz="24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×R</a:t>
                </a:r>
                <a:r>
                  <a:rPr lang="en-US" sz="2400" baseline="-25000" dirty="0" err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g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en-US" sz="24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&lt; 1.3</a:t>
                </a:r>
                <a:endParaRPr kumimoji="0" lang="en-IN" sz="2400" b="0" i="0" u="none" strike="noStrike" kern="1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7A87506-2723-1652-89EA-3DAFFF34C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4700" y="4300780"/>
                <a:ext cx="4974247" cy="2475293"/>
              </a:xfrm>
              <a:prstGeom prst="rect">
                <a:avLst/>
              </a:prstGeom>
              <a:blipFill>
                <a:blip r:embed="rId4"/>
                <a:stretch>
                  <a:fillRect l="-1716" t="-1970" r="-245" b="-46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08DC5ED-8056-E287-83E4-3E448513BC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36247" y="598001"/>
            <a:ext cx="3751152" cy="37306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F0F104-2DE1-9910-9A95-B0A823EFEC9B}"/>
              </a:ext>
            </a:extLst>
          </p:cNvPr>
          <p:cNvSpPr txBox="1"/>
          <p:nvPr/>
        </p:nvSpPr>
        <p:spPr>
          <a:xfrm>
            <a:off x="8114951" y="125658"/>
            <a:ext cx="3208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Guinier plot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ln(I) vs. q</a:t>
            </a:r>
            <a:r>
              <a:rPr lang="en-US" sz="24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00761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500394-5BF3-996E-12AB-6ED7379B471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0" y="10"/>
            <a:ext cx="12191981" cy="6857990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D39F68-A585-C4EE-2DE2-81D427668332}"/>
              </a:ext>
            </a:extLst>
          </p:cNvPr>
          <p:cNvSpPr txBox="1"/>
          <p:nvPr/>
        </p:nvSpPr>
        <p:spPr>
          <a:xfrm>
            <a:off x="404553" y="3091928"/>
            <a:ext cx="907856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Experimental Setup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CFB2C7-66FF-2C38-D459-8DECF2608356}"/>
              </a:ext>
            </a:extLst>
          </p:cNvPr>
          <p:cNvSpPr txBox="1"/>
          <p:nvPr/>
        </p:nvSpPr>
        <p:spPr>
          <a:xfrm>
            <a:off x="1614196" y="1009140"/>
            <a:ext cx="76511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LASER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B7E816-86CE-F7E7-4FA0-4677DF4D81BA}"/>
              </a:ext>
            </a:extLst>
          </p:cNvPr>
          <p:cNvSpPr txBox="1"/>
          <p:nvPr/>
        </p:nvSpPr>
        <p:spPr>
          <a:xfrm>
            <a:off x="2736980" y="971306"/>
            <a:ext cx="109790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Aperture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54654E-4730-DE0A-8B4D-3FA428DD385D}"/>
              </a:ext>
            </a:extLst>
          </p:cNvPr>
          <p:cNvSpPr txBox="1"/>
          <p:nvPr/>
        </p:nvSpPr>
        <p:spPr>
          <a:xfrm>
            <a:off x="6926424" y="2996417"/>
            <a:ext cx="13871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Goniometer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46422A-2B76-4B47-A2BA-F644D8CC2B85}"/>
              </a:ext>
            </a:extLst>
          </p:cNvPr>
          <p:cNvSpPr txBox="1"/>
          <p:nvPr/>
        </p:nvSpPr>
        <p:spPr>
          <a:xfrm>
            <a:off x="7094376" y="227829"/>
            <a:ext cx="12192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Scattering Solution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06A0BD-1611-ED45-DB9D-8D70E5CFD0EC}"/>
              </a:ext>
            </a:extLst>
          </p:cNvPr>
          <p:cNvSpPr txBox="1"/>
          <p:nvPr/>
        </p:nvSpPr>
        <p:spPr>
          <a:xfrm>
            <a:off x="9483114" y="1205425"/>
            <a:ext cx="127508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Photodiode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3860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8953E74-D241-4DDF-8508-F0365EA13A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C3C901A-B2F4-4A3C-BCDD-7C8D587EC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371134"/>
          </a:xfrm>
          <a:custGeom>
            <a:avLst/>
            <a:gdLst>
              <a:gd name="connsiteX0" fmla="*/ 0 w 12192000"/>
              <a:gd name="connsiteY0" fmla="*/ 0 h 2515690"/>
              <a:gd name="connsiteX1" fmla="*/ 170442 w 12192000"/>
              <a:gd name="connsiteY1" fmla="*/ 96074 h 2515690"/>
              <a:gd name="connsiteX2" fmla="*/ 424739 w 12192000"/>
              <a:gd name="connsiteY2" fmla="*/ 224865 h 2515690"/>
              <a:gd name="connsiteX3" fmla="*/ 748273 w 12192000"/>
              <a:gd name="connsiteY3" fmla="*/ 373939 h 2515690"/>
              <a:gd name="connsiteX4" fmla="*/ 1037058 w 12192000"/>
              <a:gd name="connsiteY4" fmla="*/ 499994 h 2515690"/>
              <a:gd name="connsiteX5" fmla="*/ 1101312 w 12192000"/>
              <a:gd name="connsiteY5" fmla="*/ 428540 h 2515690"/>
              <a:gd name="connsiteX6" fmla="*/ 1367071 w 12192000"/>
              <a:gd name="connsiteY6" fmla="*/ 516118 h 2515690"/>
              <a:gd name="connsiteX7" fmla="*/ 2189943 w 12192000"/>
              <a:gd name="connsiteY7" fmla="*/ 794533 h 2515690"/>
              <a:gd name="connsiteX8" fmla="*/ 2390329 w 12192000"/>
              <a:gd name="connsiteY8" fmla="*/ 920897 h 2515690"/>
              <a:gd name="connsiteX9" fmla="*/ 2459570 w 12192000"/>
              <a:gd name="connsiteY9" fmla="*/ 983740 h 2515690"/>
              <a:gd name="connsiteX10" fmla="*/ 2503252 w 12192000"/>
              <a:gd name="connsiteY10" fmla="*/ 1000151 h 2515690"/>
              <a:gd name="connsiteX11" fmla="*/ 2503252 w 12192000"/>
              <a:gd name="connsiteY11" fmla="*/ 1008273 h 2515690"/>
              <a:gd name="connsiteX12" fmla="*/ 2511191 w 12192000"/>
              <a:gd name="connsiteY12" fmla="*/ 1009499 h 2515690"/>
              <a:gd name="connsiteX13" fmla="*/ 2565029 w 12192000"/>
              <a:gd name="connsiteY13" fmla="*/ 1015977 h 2515690"/>
              <a:gd name="connsiteX14" fmla="*/ 2593745 w 12192000"/>
              <a:gd name="connsiteY14" fmla="*/ 1019963 h 2515690"/>
              <a:gd name="connsiteX15" fmla="*/ 2591015 w 12192000"/>
              <a:gd name="connsiteY15" fmla="*/ 1019651 h 2515690"/>
              <a:gd name="connsiteX16" fmla="*/ 2590137 w 12192000"/>
              <a:gd name="connsiteY16" fmla="*/ 1019549 h 2515690"/>
              <a:gd name="connsiteX17" fmla="*/ 2589021 w 12192000"/>
              <a:gd name="connsiteY17" fmla="*/ 1019424 h 2515690"/>
              <a:gd name="connsiteX18" fmla="*/ 2591015 w 12192000"/>
              <a:gd name="connsiteY18" fmla="*/ 1019651 h 2515690"/>
              <a:gd name="connsiteX19" fmla="*/ 2602385 w 12192000"/>
              <a:gd name="connsiteY19" fmla="*/ 1020975 h 2515690"/>
              <a:gd name="connsiteX20" fmla="*/ 2614445 w 12192000"/>
              <a:gd name="connsiteY20" fmla="*/ 1022389 h 2515690"/>
              <a:gd name="connsiteX21" fmla="*/ 2614445 w 12192000"/>
              <a:gd name="connsiteY21" fmla="*/ 1020966 h 2515690"/>
              <a:gd name="connsiteX22" fmla="*/ 2676661 w 12192000"/>
              <a:gd name="connsiteY22" fmla="*/ 1029355 h 2515690"/>
              <a:gd name="connsiteX23" fmla="*/ 2788597 w 12192000"/>
              <a:gd name="connsiteY23" fmla="*/ 1048926 h 2515690"/>
              <a:gd name="connsiteX24" fmla="*/ 2812742 w 12192000"/>
              <a:gd name="connsiteY24" fmla="*/ 1057667 h 2515690"/>
              <a:gd name="connsiteX25" fmla="*/ 2970201 w 12192000"/>
              <a:gd name="connsiteY25" fmla="*/ 949091 h 2515690"/>
              <a:gd name="connsiteX26" fmla="*/ 3030610 w 12192000"/>
              <a:gd name="connsiteY26" fmla="*/ 1049340 h 2515690"/>
              <a:gd name="connsiteX27" fmla="*/ 3058913 w 12192000"/>
              <a:gd name="connsiteY27" fmla="*/ 1048085 h 2515690"/>
              <a:gd name="connsiteX28" fmla="*/ 3072697 w 12192000"/>
              <a:gd name="connsiteY28" fmla="*/ 1045316 h 2515690"/>
              <a:gd name="connsiteX29" fmla="*/ 3083305 w 12192000"/>
              <a:gd name="connsiteY29" fmla="*/ 1040550 h 2515690"/>
              <a:gd name="connsiteX30" fmla="*/ 3125603 w 12192000"/>
              <a:gd name="connsiteY30" fmla="*/ 1004583 h 2515690"/>
              <a:gd name="connsiteX31" fmla="*/ 3385106 w 12192000"/>
              <a:gd name="connsiteY31" fmla="*/ 1042233 h 2515690"/>
              <a:gd name="connsiteX32" fmla="*/ 3424945 w 12192000"/>
              <a:gd name="connsiteY32" fmla="*/ 1065268 h 2515690"/>
              <a:gd name="connsiteX33" fmla="*/ 3436948 w 12192000"/>
              <a:gd name="connsiteY33" fmla="*/ 1068018 h 2515690"/>
              <a:gd name="connsiteX34" fmla="*/ 3466714 w 12192000"/>
              <a:gd name="connsiteY34" fmla="*/ 1063419 h 2515690"/>
              <a:gd name="connsiteX35" fmla="*/ 3550909 w 12192000"/>
              <a:gd name="connsiteY35" fmla="*/ 1044511 h 2515690"/>
              <a:gd name="connsiteX36" fmla="*/ 3555900 w 12192000"/>
              <a:gd name="connsiteY36" fmla="*/ 1041996 h 2515690"/>
              <a:gd name="connsiteX37" fmla="*/ 3625978 w 12192000"/>
              <a:gd name="connsiteY37" fmla="*/ 1023459 h 2515690"/>
              <a:gd name="connsiteX38" fmla="*/ 3632465 w 12192000"/>
              <a:gd name="connsiteY38" fmla="*/ 1023522 h 2515690"/>
              <a:gd name="connsiteX39" fmla="*/ 3649063 w 12192000"/>
              <a:gd name="connsiteY39" fmla="*/ 1018726 h 2515690"/>
              <a:gd name="connsiteX40" fmla="*/ 3805954 w 12192000"/>
              <a:gd name="connsiteY40" fmla="*/ 917517 h 2515690"/>
              <a:gd name="connsiteX41" fmla="*/ 4020506 w 12192000"/>
              <a:gd name="connsiteY41" fmla="*/ 816231 h 2515690"/>
              <a:gd name="connsiteX42" fmla="*/ 4233682 w 12192000"/>
              <a:gd name="connsiteY42" fmla="*/ 799511 h 2515690"/>
              <a:gd name="connsiteX43" fmla="*/ 4306552 w 12192000"/>
              <a:gd name="connsiteY43" fmla="*/ 610207 h 2515690"/>
              <a:gd name="connsiteX44" fmla="*/ 4816604 w 12192000"/>
              <a:gd name="connsiteY44" fmla="*/ 773163 h 2515690"/>
              <a:gd name="connsiteX45" fmla="*/ 4916502 w 12192000"/>
              <a:gd name="connsiteY45" fmla="*/ 788104 h 2515690"/>
              <a:gd name="connsiteX46" fmla="*/ 5224415 w 12192000"/>
              <a:gd name="connsiteY46" fmla="*/ 674418 h 2515690"/>
              <a:gd name="connsiteX47" fmla="*/ 5274077 w 12192000"/>
              <a:gd name="connsiteY47" fmla="*/ 655978 h 2515690"/>
              <a:gd name="connsiteX48" fmla="*/ 5371217 w 12192000"/>
              <a:gd name="connsiteY48" fmla="*/ 614372 h 2515690"/>
              <a:gd name="connsiteX49" fmla="*/ 5364523 w 12192000"/>
              <a:gd name="connsiteY49" fmla="*/ 502501 h 2515690"/>
              <a:gd name="connsiteX50" fmla="*/ 5457871 w 12192000"/>
              <a:gd name="connsiteY50" fmla="*/ 558285 h 2515690"/>
              <a:gd name="connsiteX51" fmla="*/ 5750580 w 12192000"/>
              <a:gd name="connsiteY51" fmla="*/ 663503 h 2515690"/>
              <a:gd name="connsiteX52" fmla="*/ 5976618 w 12192000"/>
              <a:gd name="connsiteY52" fmla="*/ 582652 h 2515690"/>
              <a:gd name="connsiteX53" fmla="*/ 6009346 w 12192000"/>
              <a:gd name="connsiteY53" fmla="*/ 559470 h 2515690"/>
              <a:gd name="connsiteX54" fmla="*/ 6069735 w 12192000"/>
              <a:gd name="connsiteY54" fmla="*/ 587803 h 2515690"/>
              <a:gd name="connsiteX55" fmla="*/ 6270319 w 12192000"/>
              <a:gd name="connsiteY55" fmla="*/ 643982 h 2515690"/>
              <a:gd name="connsiteX56" fmla="*/ 6406781 w 12192000"/>
              <a:gd name="connsiteY56" fmla="*/ 672327 h 2515690"/>
              <a:gd name="connsiteX57" fmla="*/ 6469508 w 12192000"/>
              <a:gd name="connsiteY57" fmla="*/ 708574 h 2515690"/>
              <a:gd name="connsiteX58" fmla="*/ 6515869 w 12192000"/>
              <a:gd name="connsiteY58" fmla="*/ 715738 h 2515690"/>
              <a:gd name="connsiteX59" fmla="*/ 6725938 w 12192000"/>
              <a:gd name="connsiteY59" fmla="*/ 691128 h 2515690"/>
              <a:gd name="connsiteX60" fmla="*/ 6778240 w 12192000"/>
              <a:gd name="connsiteY60" fmla="*/ 678998 h 2515690"/>
              <a:gd name="connsiteX61" fmla="*/ 6806944 w 12192000"/>
              <a:gd name="connsiteY61" fmla="*/ 646178 h 2515690"/>
              <a:gd name="connsiteX62" fmla="*/ 6830632 w 12192000"/>
              <a:gd name="connsiteY62" fmla="*/ 633915 h 2515690"/>
              <a:gd name="connsiteX63" fmla="*/ 6858072 w 12192000"/>
              <a:gd name="connsiteY63" fmla="*/ 646178 h 2515690"/>
              <a:gd name="connsiteX64" fmla="*/ 6891322 w 12192000"/>
              <a:gd name="connsiteY64" fmla="*/ 678998 h 2515690"/>
              <a:gd name="connsiteX65" fmla="*/ 6951905 w 12192000"/>
              <a:gd name="connsiteY65" fmla="*/ 691128 h 2515690"/>
              <a:gd name="connsiteX66" fmla="*/ 7195246 w 12192000"/>
              <a:gd name="connsiteY66" fmla="*/ 715738 h 2515690"/>
              <a:gd name="connsiteX67" fmla="*/ 7248949 w 12192000"/>
              <a:gd name="connsiteY67" fmla="*/ 708574 h 2515690"/>
              <a:gd name="connsiteX68" fmla="*/ 7321609 w 12192000"/>
              <a:gd name="connsiteY68" fmla="*/ 672327 h 2515690"/>
              <a:gd name="connsiteX69" fmla="*/ 7479684 w 12192000"/>
              <a:gd name="connsiteY69" fmla="*/ 643982 h 2515690"/>
              <a:gd name="connsiteX70" fmla="*/ 7712035 w 12192000"/>
              <a:gd name="connsiteY70" fmla="*/ 587803 h 2515690"/>
              <a:gd name="connsiteX71" fmla="*/ 7781987 w 12192000"/>
              <a:gd name="connsiteY71" fmla="*/ 559470 h 2515690"/>
              <a:gd name="connsiteX72" fmla="*/ 7819900 w 12192000"/>
              <a:gd name="connsiteY72" fmla="*/ 582652 h 2515690"/>
              <a:gd name="connsiteX73" fmla="*/ 8081736 w 12192000"/>
              <a:gd name="connsiteY73" fmla="*/ 663503 h 2515690"/>
              <a:gd name="connsiteX74" fmla="*/ 8420801 w 12192000"/>
              <a:gd name="connsiteY74" fmla="*/ 558285 h 2515690"/>
              <a:gd name="connsiteX75" fmla="*/ 8528933 w 12192000"/>
              <a:gd name="connsiteY75" fmla="*/ 502501 h 2515690"/>
              <a:gd name="connsiteX76" fmla="*/ 8521178 w 12192000"/>
              <a:gd name="connsiteY76" fmla="*/ 614372 h 2515690"/>
              <a:gd name="connsiteX77" fmla="*/ 8633702 w 12192000"/>
              <a:gd name="connsiteY77" fmla="*/ 655978 h 2515690"/>
              <a:gd name="connsiteX78" fmla="*/ 8691231 w 12192000"/>
              <a:gd name="connsiteY78" fmla="*/ 674418 h 2515690"/>
              <a:gd name="connsiteX79" fmla="*/ 9047908 w 12192000"/>
              <a:gd name="connsiteY79" fmla="*/ 788104 h 2515690"/>
              <a:gd name="connsiteX80" fmla="*/ 9163628 w 12192000"/>
              <a:gd name="connsiteY80" fmla="*/ 773163 h 2515690"/>
              <a:gd name="connsiteX81" fmla="*/ 9754459 w 12192000"/>
              <a:gd name="connsiteY81" fmla="*/ 610207 h 2515690"/>
              <a:gd name="connsiteX82" fmla="*/ 9838868 w 12192000"/>
              <a:gd name="connsiteY82" fmla="*/ 799511 h 2515690"/>
              <a:gd name="connsiteX83" fmla="*/ 10085808 w 12192000"/>
              <a:gd name="connsiteY83" fmla="*/ 816231 h 2515690"/>
              <a:gd name="connsiteX84" fmla="*/ 10334338 w 12192000"/>
              <a:gd name="connsiteY84" fmla="*/ 917517 h 2515690"/>
              <a:gd name="connsiteX85" fmla="*/ 10516076 w 12192000"/>
              <a:gd name="connsiteY85" fmla="*/ 1018726 h 2515690"/>
              <a:gd name="connsiteX86" fmla="*/ 10535302 w 12192000"/>
              <a:gd name="connsiteY86" fmla="*/ 1023522 h 2515690"/>
              <a:gd name="connsiteX87" fmla="*/ 10542819 w 12192000"/>
              <a:gd name="connsiteY87" fmla="*/ 1023458 h 2515690"/>
              <a:gd name="connsiteX88" fmla="*/ 10623994 w 12192000"/>
              <a:gd name="connsiteY88" fmla="*/ 1041996 h 2515690"/>
              <a:gd name="connsiteX89" fmla="*/ 10629774 w 12192000"/>
              <a:gd name="connsiteY89" fmla="*/ 1044511 h 2515690"/>
              <a:gd name="connsiteX90" fmla="*/ 10727305 w 12192000"/>
              <a:gd name="connsiteY90" fmla="*/ 1063419 h 2515690"/>
              <a:gd name="connsiteX91" fmla="*/ 10761785 w 12192000"/>
              <a:gd name="connsiteY91" fmla="*/ 1068017 h 2515690"/>
              <a:gd name="connsiteX92" fmla="*/ 10775688 w 12192000"/>
              <a:gd name="connsiteY92" fmla="*/ 1065268 h 2515690"/>
              <a:gd name="connsiteX93" fmla="*/ 10821837 w 12192000"/>
              <a:gd name="connsiteY93" fmla="*/ 1042232 h 2515690"/>
              <a:gd name="connsiteX94" fmla="*/ 11122438 w 12192000"/>
              <a:gd name="connsiteY94" fmla="*/ 1004583 h 2515690"/>
              <a:gd name="connsiteX95" fmla="*/ 11171433 w 12192000"/>
              <a:gd name="connsiteY95" fmla="*/ 1040550 h 2515690"/>
              <a:gd name="connsiteX96" fmla="*/ 11183724 w 12192000"/>
              <a:gd name="connsiteY96" fmla="*/ 1045316 h 2515690"/>
              <a:gd name="connsiteX97" fmla="*/ 11199690 w 12192000"/>
              <a:gd name="connsiteY97" fmla="*/ 1048085 h 2515690"/>
              <a:gd name="connsiteX98" fmla="*/ 11232475 w 12192000"/>
              <a:gd name="connsiteY98" fmla="*/ 1049340 h 2515690"/>
              <a:gd name="connsiteX99" fmla="*/ 11302451 w 12192000"/>
              <a:gd name="connsiteY99" fmla="*/ 949091 h 2515690"/>
              <a:gd name="connsiteX100" fmla="*/ 11484849 w 12192000"/>
              <a:gd name="connsiteY100" fmla="*/ 1057667 h 2515690"/>
              <a:gd name="connsiteX101" fmla="*/ 11512818 w 12192000"/>
              <a:gd name="connsiteY101" fmla="*/ 1048926 h 2515690"/>
              <a:gd name="connsiteX102" fmla="*/ 11642481 w 12192000"/>
              <a:gd name="connsiteY102" fmla="*/ 1029355 h 2515690"/>
              <a:gd name="connsiteX103" fmla="*/ 11714551 w 12192000"/>
              <a:gd name="connsiteY103" fmla="*/ 1020966 h 2515690"/>
              <a:gd name="connsiteX104" fmla="*/ 11714551 w 12192000"/>
              <a:gd name="connsiteY104" fmla="*/ 1022389 h 2515690"/>
              <a:gd name="connsiteX105" fmla="*/ 11728519 w 12192000"/>
              <a:gd name="connsiteY105" fmla="*/ 1020975 h 2515690"/>
              <a:gd name="connsiteX106" fmla="*/ 11741691 w 12192000"/>
              <a:gd name="connsiteY106" fmla="*/ 1019651 h 2515690"/>
              <a:gd name="connsiteX107" fmla="*/ 11743999 w 12192000"/>
              <a:gd name="connsiteY107" fmla="*/ 1019424 h 2515690"/>
              <a:gd name="connsiteX108" fmla="*/ 11742709 w 12192000"/>
              <a:gd name="connsiteY108" fmla="*/ 1019549 h 2515690"/>
              <a:gd name="connsiteX109" fmla="*/ 11741691 w 12192000"/>
              <a:gd name="connsiteY109" fmla="*/ 1019651 h 2515690"/>
              <a:gd name="connsiteX110" fmla="*/ 11738529 w 12192000"/>
              <a:gd name="connsiteY110" fmla="*/ 1019963 h 2515690"/>
              <a:gd name="connsiteX111" fmla="*/ 11771791 w 12192000"/>
              <a:gd name="connsiteY111" fmla="*/ 1015977 h 2515690"/>
              <a:gd name="connsiteX112" fmla="*/ 11834157 w 12192000"/>
              <a:gd name="connsiteY112" fmla="*/ 1009499 h 2515690"/>
              <a:gd name="connsiteX113" fmla="*/ 11843354 w 12192000"/>
              <a:gd name="connsiteY113" fmla="*/ 1008273 h 2515690"/>
              <a:gd name="connsiteX114" fmla="*/ 11843354 w 12192000"/>
              <a:gd name="connsiteY114" fmla="*/ 1000151 h 2515690"/>
              <a:gd name="connsiteX115" fmla="*/ 11893955 w 12192000"/>
              <a:gd name="connsiteY115" fmla="*/ 983740 h 2515690"/>
              <a:gd name="connsiteX116" fmla="*/ 11974160 w 12192000"/>
              <a:gd name="connsiteY116" fmla="*/ 920897 h 2515690"/>
              <a:gd name="connsiteX117" fmla="*/ 12143531 w 12192000"/>
              <a:gd name="connsiteY117" fmla="*/ 823664 h 2515690"/>
              <a:gd name="connsiteX118" fmla="*/ 12192000 w 12192000"/>
              <a:gd name="connsiteY118" fmla="*/ 801163 h 2515690"/>
              <a:gd name="connsiteX119" fmla="*/ 12192000 w 12192000"/>
              <a:gd name="connsiteY119" fmla="*/ 2515690 h 2515690"/>
              <a:gd name="connsiteX120" fmla="*/ 0 w 12192000"/>
              <a:gd name="connsiteY120" fmla="*/ 2515690 h 2515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</a:cxnLst>
            <a:rect l="l" t="t" r="r" b="b"/>
            <a:pathLst>
              <a:path w="12192000" h="2515690">
                <a:moveTo>
                  <a:pt x="0" y="0"/>
                </a:moveTo>
                <a:lnTo>
                  <a:pt x="170442" y="96074"/>
                </a:lnTo>
                <a:cubicBezTo>
                  <a:pt x="323315" y="179510"/>
                  <a:pt x="418777" y="223899"/>
                  <a:pt x="424739" y="224865"/>
                </a:cubicBezTo>
                <a:cubicBezTo>
                  <a:pt x="573781" y="248496"/>
                  <a:pt x="654649" y="314572"/>
                  <a:pt x="748273" y="373939"/>
                </a:cubicBezTo>
                <a:cubicBezTo>
                  <a:pt x="830321" y="425631"/>
                  <a:pt x="917271" y="480784"/>
                  <a:pt x="1037058" y="499994"/>
                </a:cubicBezTo>
                <a:cubicBezTo>
                  <a:pt x="1195925" y="525362"/>
                  <a:pt x="1048105" y="445478"/>
                  <a:pt x="1101312" y="428540"/>
                </a:cubicBezTo>
                <a:cubicBezTo>
                  <a:pt x="1188473" y="458169"/>
                  <a:pt x="1274625" y="505369"/>
                  <a:pt x="1367071" y="516118"/>
                </a:cubicBezTo>
                <a:cubicBezTo>
                  <a:pt x="1701323" y="554463"/>
                  <a:pt x="1964451" y="648887"/>
                  <a:pt x="2189943" y="794533"/>
                </a:cubicBezTo>
                <a:cubicBezTo>
                  <a:pt x="2255082" y="836300"/>
                  <a:pt x="2357481" y="862342"/>
                  <a:pt x="2390329" y="920897"/>
                </a:cubicBezTo>
                <a:cubicBezTo>
                  <a:pt x="2406050" y="949359"/>
                  <a:pt x="2430126" y="969285"/>
                  <a:pt x="2459570" y="983740"/>
                </a:cubicBezTo>
                <a:lnTo>
                  <a:pt x="2503252" y="1000151"/>
                </a:lnTo>
                <a:lnTo>
                  <a:pt x="2503252" y="1008273"/>
                </a:lnTo>
                <a:lnTo>
                  <a:pt x="2511191" y="1009499"/>
                </a:lnTo>
                <a:cubicBezTo>
                  <a:pt x="2529847" y="1011974"/>
                  <a:pt x="2562849" y="1015701"/>
                  <a:pt x="2565029" y="1015977"/>
                </a:cubicBezTo>
                <a:cubicBezTo>
                  <a:pt x="2610845" y="1021778"/>
                  <a:pt x="2601577" y="1020837"/>
                  <a:pt x="2593745" y="1019963"/>
                </a:cubicBezTo>
                <a:lnTo>
                  <a:pt x="2591015" y="1019651"/>
                </a:lnTo>
                <a:lnTo>
                  <a:pt x="2590137" y="1019549"/>
                </a:lnTo>
                <a:cubicBezTo>
                  <a:pt x="2588203" y="1019326"/>
                  <a:pt x="2588125" y="1019321"/>
                  <a:pt x="2589021" y="1019424"/>
                </a:cubicBezTo>
                <a:lnTo>
                  <a:pt x="2591015" y="1019651"/>
                </a:lnTo>
                <a:lnTo>
                  <a:pt x="2602385" y="1020975"/>
                </a:lnTo>
                <a:lnTo>
                  <a:pt x="2614445" y="1022389"/>
                </a:lnTo>
                <a:lnTo>
                  <a:pt x="2614445" y="1020966"/>
                </a:lnTo>
                <a:lnTo>
                  <a:pt x="2676661" y="1029355"/>
                </a:lnTo>
                <a:cubicBezTo>
                  <a:pt x="2715592" y="1034194"/>
                  <a:pt x="2753901" y="1039695"/>
                  <a:pt x="2788597" y="1048926"/>
                </a:cubicBezTo>
                <a:lnTo>
                  <a:pt x="2812742" y="1057667"/>
                </a:lnTo>
                <a:lnTo>
                  <a:pt x="2970201" y="949091"/>
                </a:lnTo>
                <a:cubicBezTo>
                  <a:pt x="3052785" y="982961"/>
                  <a:pt x="2996105" y="1020057"/>
                  <a:pt x="3030610" y="1049340"/>
                </a:cubicBezTo>
                <a:cubicBezTo>
                  <a:pt x="3039005" y="1048442"/>
                  <a:pt x="3049621" y="1048500"/>
                  <a:pt x="3058913" y="1048085"/>
                </a:cubicBezTo>
                <a:lnTo>
                  <a:pt x="3072697" y="1045316"/>
                </a:lnTo>
                <a:lnTo>
                  <a:pt x="3083305" y="1040550"/>
                </a:lnTo>
                <a:lnTo>
                  <a:pt x="3125603" y="1004583"/>
                </a:lnTo>
                <a:cubicBezTo>
                  <a:pt x="3221669" y="925596"/>
                  <a:pt x="3242489" y="937564"/>
                  <a:pt x="3385106" y="1042233"/>
                </a:cubicBezTo>
                <a:cubicBezTo>
                  <a:pt x="3399403" y="1052670"/>
                  <a:pt x="3412529" y="1060209"/>
                  <a:pt x="3424945" y="1065268"/>
                </a:cubicBezTo>
                <a:lnTo>
                  <a:pt x="3436948" y="1068018"/>
                </a:lnTo>
                <a:lnTo>
                  <a:pt x="3466714" y="1063419"/>
                </a:lnTo>
                <a:lnTo>
                  <a:pt x="3550909" y="1044511"/>
                </a:lnTo>
                <a:lnTo>
                  <a:pt x="3555900" y="1041996"/>
                </a:lnTo>
                <a:cubicBezTo>
                  <a:pt x="3573827" y="1033454"/>
                  <a:pt x="3594382" y="1025941"/>
                  <a:pt x="3625978" y="1023459"/>
                </a:cubicBezTo>
                <a:lnTo>
                  <a:pt x="3632465" y="1023522"/>
                </a:lnTo>
                <a:lnTo>
                  <a:pt x="3649063" y="1018726"/>
                </a:lnTo>
                <a:cubicBezTo>
                  <a:pt x="3741849" y="989371"/>
                  <a:pt x="3810578" y="953657"/>
                  <a:pt x="3805954" y="917517"/>
                </a:cubicBezTo>
                <a:cubicBezTo>
                  <a:pt x="4031729" y="953901"/>
                  <a:pt x="4031729" y="953901"/>
                  <a:pt x="4020506" y="816231"/>
                </a:cubicBezTo>
                <a:cubicBezTo>
                  <a:pt x="4171643" y="865324"/>
                  <a:pt x="4206308" y="864422"/>
                  <a:pt x="4233682" y="799511"/>
                </a:cubicBezTo>
                <a:cubicBezTo>
                  <a:pt x="4260226" y="737017"/>
                  <a:pt x="4254728" y="668575"/>
                  <a:pt x="4306552" y="610207"/>
                </a:cubicBezTo>
                <a:cubicBezTo>
                  <a:pt x="4495313" y="657923"/>
                  <a:pt x="4699922" y="667347"/>
                  <a:pt x="4816604" y="773163"/>
                </a:cubicBezTo>
                <a:cubicBezTo>
                  <a:pt x="4834734" y="789836"/>
                  <a:pt x="4890507" y="799946"/>
                  <a:pt x="4916502" y="788104"/>
                </a:cubicBezTo>
                <a:cubicBezTo>
                  <a:pt x="5013526" y="746101"/>
                  <a:pt x="5238129" y="796871"/>
                  <a:pt x="5224415" y="674418"/>
                </a:cubicBezTo>
                <a:cubicBezTo>
                  <a:pt x="5223051" y="659300"/>
                  <a:pt x="5240524" y="644890"/>
                  <a:pt x="5274077" y="655978"/>
                </a:cubicBezTo>
                <a:cubicBezTo>
                  <a:pt x="5388582" y="694066"/>
                  <a:pt x="5367022" y="644784"/>
                  <a:pt x="5371217" y="614372"/>
                </a:cubicBezTo>
                <a:cubicBezTo>
                  <a:pt x="5375856" y="577567"/>
                  <a:pt x="5319010" y="537578"/>
                  <a:pt x="5364523" y="502501"/>
                </a:cubicBezTo>
                <a:cubicBezTo>
                  <a:pt x="5425408" y="508891"/>
                  <a:pt x="5433299" y="538191"/>
                  <a:pt x="5457871" y="558285"/>
                </a:cubicBezTo>
                <a:cubicBezTo>
                  <a:pt x="5530352" y="617005"/>
                  <a:pt x="5609566" y="664386"/>
                  <a:pt x="5750580" y="663503"/>
                </a:cubicBezTo>
                <a:cubicBezTo>
                  <a:pt x="5864519" y="662926"/>
                  <a:pt x="5966527" y="666650"/>
                  <a:pt x="5976618" y="582652"/>
                </a:cubicBezTo>
                <a:cubicBezTo>
                  <a:pt x="5978145" y="569455"/>
                  <a:pt x="5990792" y="562346"/>
                  <a:pt x="6009346" y="559470"/>
                </a:cubicBezTo>
                <a:cubicBezTo>
                  <a:pt x="6030639" y="568485"/>
                  <a:pt x="6052592" y="577083"/>
                  <a:pt x="6069735" y="587803"/>
                </a:cubicBezTo>
                <a:cubicBezTo>
                  <a:pt x="6126182" y="623812"/>
                  <a:pt x="6196945" y="634730"/>
                  <a:pt x="6270319" y="643982"/>
                </a:cubicBezTo>
                <a:cubicBezTo>
                  <a:pt x="6317101" y="649940"/>
                  <a:pt x="6363466" y="657107"/>
                  <a:pt x="6406781" y="672327"/>
                </a:cubicBezTo>
                <a:cubicBezTo>
                  <a:pt x="6433586" y="681598"/>
                  <a:pt x="6454928" y="693402"/>
                  <a:pt x="6469508" y="708574"/>
                </a:cubicBezTo>
                <a:cubicBezTo>
                  <a:pt x="6482729" y="721786"/>
                  <a:pt x="6496225" y="725422"/>
                  <a:pt x="6515869" y="715738"/>
                </a:cubicBezTo>
                <a:cubicBezTo>
                  <a:pt x="6572200" y="688353"/>
                  <a:pt x="6639257" y="676241"/>
                  <a:pt x="6725938" y="691128"/>
                </a:cubicBezTo>
                <a:cubicBezTo>
                  <a:pt x="6752109" y="695629"/>
                  <a:pt x="6772625" y="691505"/>
                  <a:pt x="6778240" y="678998"/>
                </a:cubicBezTo>
                <a:cubicBezTo>
                  <a:pt x="6784286" y="665981"/>
                  <a:pt x="6794269" y="655280"/>
                  <a:pt x="6806944" y="646178"/>
                </a:cubicBezTo>
                <a:lnTo>
                  <a:pt x="6830632" y="633915"/>
                </a:lnTo>
                <a:lnTo>
                  <a:pt x="6858072" y="646178"/>
                </a:lnTo>
                <a:cubicBezTo>
                  <a:pt x="6872754" y="655280"/>
                  <a:pt x="6884317" y="665981"/>
                  <a:pt x="6891322" y="678998"/>
                </a:cubicBezTo>
                <a:cubicBezTo>
                  <a:pt x="6897826" y="691505"/>
                  <a:pt x="6921592" y="695629"/>
                  <a:pt x="6951905" y="691128"/>
                </a:cubicBezTo>
                <a:cubicBezTo>
                  <a:pt x="7052317" y="676241"/>
                  <a:pt x="7129994" y="688353"/>
                  <a:pt x="7195246" y="715738"/>
                </a:cubicBezTo>
                <a:cubicBezTo>
                  <a:pt x="7217999" y="725422"/>
                  <a:pt x="7233634" y="721786"/>
                  <a:pt x="7248949" y="708574"/>
                </a:cubicBezTo>
                <a:cubicBezTo>
                  <a:pt x="7265838" y="693402"/>
                  <a:pt x="7290560" y="681598"/>
                  <a:pt x="7321609" y="672327"/>
                </a:cubicBezTo>
                <a:cubicBezTo>
                  <a:pt x="7371785" y="657107"/>
                  <a:pt x="7425493" y="649940"/>
                  <a:pt x="7479684" y="643982"/>
                </a:cubicBezTo>
                <a:cubicBezTo>
                  <a:pt x="7564679" y="634730"/>
                  <a:pt x="7646649" y="623812"/>
                  <a:pt x="7712035" y="587803"/>
                </a:cubicBezTo>
                <a:cubicBezTo>
                  <a:pt x="7731892" y="577083"/>
                  <a:pt x="7757322" y="568485"/>
                  <a:pt x="7781987" y="559470"/>
                </a:cubicBezTo>
                <a:cubicBezTo>
                  <a:pt x="7803481" y="562346"/>
                  <a:pt x="7818130" y="569455"/>
                  <a:pt x="7819900" y="582652"/>
                </a:cubicBezTo>
                <a:cubicBezTo>
                  <a:pt x="7831588" y="666650"/>
                  <a:pt x="7949751" y="662926"/>
                  <a:pt x="8081736" y="663503"/>
                </a:cubicBezTo>
                <a:cubicBezTo>
                  <a:pt x="8245081" y="664386"/>
                  <a:pt x="8336842" y="617005"/>
                  <a:pt x="8420801" y="558285"/>
                </a:cubicBezTo>
                <a:cubicBezTo>
                  <a:pt x="8449265" y="538191"/>
                  <a:pt x="8458404" y="508890"/>
                  <a:pt x="8528933" y="502501"/>
                </a:cubicBezTo>
                <a:cubicBezTo>
                  <a:pt x="8581654" y="537578"/>
                  <a:pt x="8515805" y="577567"/>
                  <a:pt x="8521178" y="614372"/>
                </a:cubicBezTo>
                <a:cubicBezTo>
                  <a:pt x="8526038" y="644784"/>
                  <a:pt x="8501063" y="694066"/>
                  <a:pt x="8633702" y="655978"/>
                </a:cubicBezTo>
                <a:cubicBezTo>
                  <a:pt x="8672570" y="644890"/>
                  <a:pt x="8692811" y="659300"/>
                  <a:pt x="8691231" y="674418"/>
                </a:cubicBezTo>
                <a:cubicBezTo>
                  <a:pt x="8675345" y="796871"/>
                  <a:pt x="8935518" y="746101"/>
                  <a:pt x="9047908" y="788104"/>
                </a:cubicBezTo>
                <a:cubicBezTo>
                  <a:pt x="9078021" y="799946"/>
                  <a:pt x="9142627" y="789836"/>
                  <a:pt x="9163628" y="773163"/>
                </a:cubicBezTo>
                <a:cubicBezTo>
                  <a:pt x="9298789" y="667347"/>
                  <a:pt x="9535801" y="657923"/>
                  <a:pt x="9754459" y="610207"/>
                </a:cubicBezTo>
                <a:cubicBezTo>
                  <a:pt x="9814490" y="668575"/>
                  <a:pt x="9808123" y="737017"/>
                  <a:pt x="9838868" y="799511"/>
                </a:cubicBezTo>
                <a:cubicBezTo>
                  <a:pt x="9870579" y="864422"/>
                  <a:pt x="9910733" y="865324"/>
                  <a:pt x="10085808" y="816231"/>
                </a:cubicBezTo>
                <a:cubicBezTo>
                  <a:pt x="10072804" y="953901"/>
                  <a:pt x="10072804" y="953901"/>
                  <a:pt x="10334338" y="917517"/>
                </a:cubicBezTo>
                <a:cubicBezTo>
                  <a:pt x="10328982" y="953657"/>
                  <a:pt x="10408594" y="989371"/>
                  <a:pt x="10516076" y="1018726"/>
                </a:cubicBezTo>
                <a:lnTo>
                  <a:pt x="10535302" y="1023522"/>
                </a:lnTo>
                <a:lnTo>
                  <a:pt x="10542819" y="1023458"/>
                </a:lnTo>
                <a:cubicBezTo>
                  <a:pt x="10579419" y="1025941"/>
                  <a:pt x="10603227" y="1033454"/>
                  <a:pt x="10623994" y="1041996"/>
                </a:cubicBezTo>
                <a:lnTo>
                  <a:pt x="10629774" y="1044511"/>
                </a:lnTo>
                <a:lnTo>
                  <a:pt x="10727305" y="1063419"/>
                </a:lnTo>
                <a:lnTo>
                  <a:pt x="10761785" y="1068017"/>
                </a:lnTo>
                <a:lnTo>
                  <a:pt x="10775688" y="1065268"/>
                </a:lnTo>
                <a:cubicBezTo>
                  <a:pt x="10790070" y="1060209"/>
                  <a:pt x="10805275" y="1052670"/>
                  <a:pt x="10821837" y="1042232"/>
                </a:cubicBezTo>
                <a:cubicBezTo>
                  <a:pt x="10987041" y="937564"/>
                  <a:pt x="11011156" y="925596"/>
                  <a:pt x="11122438" y="1004583"/>
                </a:cubicBezTo>
                <a:lnTo>
                  <a:pt x="11171433" y="1040550"/>
                </a:lnTo>
                <a:lnTo>
                  <a:pt x="11183724" y="1045316"/>
                </a:lnTo>
                <a:lnTo>
                  <a:pt x="11199690" y="1048085"/>
                </a:lnTo>
                <a:cubicBezTo>
                  <a:pt x="11210452" y="1048499"/>
                  <a:pt x="11222752" y="1048442"/>
                  <a:pt x="11232475" y="1049340"/>
                </a:cubicBezTo>
                <a:cubicBezTo>
                  <a:pt x="11272445" y="1020057"/>
                  <a:pt x="11206789" y="982961"/>
                  <a:pt x="11302451" y="949091"/>
                </a:cubicBezTo>
                <a:lnTo>
                  <a:pt x="11484849" y="1057667"/>
                </a:lnTo>
                <a:lnTo>
                  <a:pt x="11512818" y="1048926"/>
                </a:lnTo>
                <a:cubicBezTo>
                  <a:pt x="11553007" y="1039695"/>
                  <a:pt x="11597385" y="1034194"/>
                  <a:pt x="11642481" y="1029355"/>
                </a:cubicBezTo>
                <a:lnTo>
                  <a:pt x="11714551" y="1020966"/>
                </a:lnTo>
                <a:lnTo>
                  <a:pt x="11714551" y="1022389"/>
                </a:lnTo>
                <a:lnTo>
                  <a:pt x="11728519" y="1020975"/>
                </a:lnTo>
                <a:lnTo>
                  <a:pt x="11741691" y="1019651"/>
                </a:lnTo>
                <a:lnTo>
                  <a:pt x="11743999" y="1019424"/>
                </a:lnTo>
                <a:cubicBezTo>
                  <a:pt x="11745037" y="1019320"/>
                  <a:pt x="11744948" y="1019326"/>
                  <a:pt x="11742709" y="1019549"/>
                </a:cubicBezTo>
                <a:lnTo>
                  <a:pt x="11741691" y="1019651"/>
                </a:lnTo>
                <a:lnTo>
                  <a:pt x="11738529" y="1019963"/>
                </a:lnTo>
                <a:cubicBezTo>
                  <a:pt x="11729455" y="1020837"/>
                  <a:pt x="11718720" y="1021778"/>
                  <a:pt x="11771791" y="1015977"/>
                </a:cubicBezTo>
                <a:cubicBezTo>
                  <a:pt x="11774317" y="1015701"/>
                  <a:pt x="11812546" y="1011974"/>
                  <a:pt x="11834157" y="1009499"/>
                </a:cubicBezTo>
                <a:lnTo>
                  <a:pt x="11843354" y="1008273"/>
                </a:lnTo>
                <a:lnTo>
                  <a:pt x="11843354" y="1000151"/>
                </a:lnTo>
                <a:lnTo>
                  <a:pt x="11893955" y="983740"/>
                </a:lnTo>
                <a:cubicBezTo>
                  <a:pt x="11928061" y="969285"/>
                  <a:pt x="11955951" y="949359"/>
                  <a:pt x="11974160" y="920897"/>
                </a:cubicBezTo>
                <a:cubicBezTo>
                  <a:pt x="12002698" y="876981"/>
                  <a:pt x="12076554" y="851353"/>
                  <a:pt x="12143531" y="823664"/>
                </a:cubicBezTo>
                <a:lnTo>
                  <a:pt x="12192000" y="801163"/>
                </a:lnTo>
                <a:lnTo>
                  <a:pt x="12192000" y="2515690"/>
                </a:lnTo>
                <a:lnTo>
                  <a:pt x="0" y="251569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F01927-BF55-7A55-E121-DB1C2A121A20}"/>
              </a:ext>
            </a:extLst>
          </p:cNvPr>
          <p:cNvSpPr txBox="1"/>
          <p:nvPr/>
        </p:nvSpPr>
        <p:spPr>
          <a:xfrm>
            <a:off x="836676" y="202124"/>
            <a:ext cx="10515600" cy="930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kern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Objectives and 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63277C-172F-E6B5-BA4C-D6D71A31A88C}"/>
              </a:ext>
            </a:extLst>
          </p:cNvPr>
          <p:cNvSpPr txBox="1"/>
          <p:nvPr/>
        </p:nvSpPr>
        <p:spPr>
          <a:xfrm>
            <a:off x="451233" y="1242121"/>
            <a:ext cx="6505575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77240">
              <a:spcAft>
                <a:spcPts val="600"/>
              </a:spcAft>
            </a:pPr>
            <a:r>
              <a:rPr lang="en-US" sz="2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Objectives: </a:t>
            </a:r>
          </a:p>
          <a:p>
            <a:pPr marL="242888" indent="-242888" defTabSz="77724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Measure the photocurrent as a function of angle.</a:t>
            </a:r>
          </a:p>
          <a:p>
            <a:pPr marL="242888" indent="-242888" defTabSz="77724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Plot the graph and find out the required parameters from it.</a:t>
            </a:r>
          </a:p>
          <a:p>
            <a:pPr marL="242888" indent="-242888" defTabSz="77724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Calculate the particle size.</a:t>
            </a:r>
          </a:p>
          <a:p>
            <a:pPr marL="242888" indent="-242888" defTabSz="77724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Check the validity of slope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36B2AF-E994-CEFC-18EF-C38483F2FC9D}"/>
              </a:ext>
            </a:extLst>
          </p:cNvPr>
          <p:cNvSpPr txBox="1"/>
          <p:nvPr/>
        </p:nvSpPr>
        <p:spPr>
          <a:xfrm>
            <a:off x="451233" y="4127004"/>
            <a:ext cx="614459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77240">
              <a:spcAft>
                <a:spcPts val="600"/>
              </a:spcAft>
            </a:pPr>
            <a:r>
              <a:rPr lang="en-US" sz="24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Conclusion:</a:t>
            </a:r>
          </a:p>
          <a:p>
            <a:pPr marL="291465" indent="-291465" defTabSz="77724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particle size can be detected using simple and cost-effective scattering technique. </a:t>
            </a:r>
            <a:endParaRPr lang="en-IN" sz="2400" kern="1200" dirty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91465" indent="-291465" defTabSz="77724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24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 particle of size of polystyrene beads has been measured and compared with the size obtained from SEM image.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812591-F551-B79B-69C5-D9AAD81D3B26}"/>
              </a:ext>
            </a:extLst>
          </p:cNvPr>
          <p:cNvSpPr txBox="1"/>
          <p:nvPr/>
        </p:nvSpPr>
        <p:spPr>
          <a:xfrm>
            <a:off x="7493341" y="5834954"/>
            <a:ext cx="3792703" cy="40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777240">
              <a:spcAft>
                <a:spcPts val="600"/>
              </a:spcAft>
            </a:pPr>
            <a:r>
              <a:rPr lang="en-IN" sz="2040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SEM image of Polystyrene Beads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8" descr="A close-up of a grey object&#10;&#10;Description automatically generated">
            <a:extLst>
              <a:ext uri="{FF2B5EF4-FFF2-40B4-BE49-F238E27FC236}">
                <a16:creationId xmlns:a16="http://schemas.microsoft.com/office/drawing/2014/main" id="{A97D2652-1C1F-D9D8-3921-46993101B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82028" y="2009253"/>
            <a:ext cx="5415331" cy="3917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31685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C7DA71-C5F6-2D1C-6F39-CA52A6143DE0}"/>
              </a:ext>
            </a:extLst>
          </p:cNvPr>
          <p:cNvSpPr txBox="1"/>
          <p:nvPr/>
        </p:nvSpPr>
        <p:spPr>
          <a:xfrm>
            <a:off x="6681003" y="238126"/>
            <a:ext cx="4491821" cy="620684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Further Reading</a:t>
            </a:r>
          </a:p>
        </p:txBody>
      </p:sp>
      <p:pic>
        <p:nvPicPr>
          <p:cNvPr id="5" name="Picture 4" descr="Magnifying glass on clear background">
            <a:extLst>
              <a:ext uri="{FF2B5EF4-FFF2-40B4-BE49-F238E27FC236}">
                <a16:creationId xmlns:a16="http://schemas.microsoft.com/office/drawing/2014/main" id="{4AA164CC-D111-1C89-D67C-21AFA0D92FA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EFBDE31-BB3E-6CFC-23CD-B5976DA38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336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80A60EC-72BB-121F-556A-E2837FD99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91A2FAE-D41C-FF5D-B0A0-7808248ED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4139706"/>
              <a:ext cx="123362" cy="2718294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FB72381-6622-8BC3-C60C-43F25C94351C}"/>
              </a:ext>
            </a:extLst>
          </p:cNvPr>
          <p:cNvSpPr txBox="1"/>
          <p:nvPr/>
        </p:nvSpPr>
        <p:spPr>
          <a:xfrm>
            <a:off x="6509552" y="1110168"/>
            <a:ext cx="5129997" cy="524844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u="sng" kern="10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http://plaza.ufl.edu/dwhahn/Rayleigh%20and%20Mie%20Light%20Scattering.pdf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u="sng" kern="10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http://hyperphysics.phy-astr.gsu.edu/hbase/atmos/blusky.html#c2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u="sng" kern="10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https://sites.google.com/a/umn.edu/mxp/student-projects/spring-2018/s18_mie-scattering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u="sng" kern="10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https://bioxtas-raw.readthedocs.io/en/latest/saxs/saxs_guinier.html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000" u="sng" kern="10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https://www.ncbi.nlm.nih.gov/pmc/articles/PMC8662971/pdf/j-54-01832.pdf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032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DCBA2BFE3E4B45B87B87F18EDC8DC1" ma:contentTypeVersion="4" ma:contentTypeDescription="Create a new document." ma:contentTypeScope="" ma:versionID="aa628bb39c318d7f3e48b8bb33d1d965">
  <xsd:schema xmlns:xsd="http://www.w3.org/2001/XMLSchema" xmlns:xs="http://www.w3.org/2001/XMLSchema" xmlns:p="http://schemas.microsoft.com/office/2006/metadata/properties" xmlns:ns2="ecead95d-892b-4918-83db-b420de9da345" targetNamespace="http://schemas.microsoft.com/office/2006/metadata/properties" ma:root="true" ma:fieldsID="d73bb22ad438c94b9ee1a5012e1d7358" ns2:_="">
    <xsd:import namespace="ecead95d-892b-4918-83db-b420de9da3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ead95d-892b-4918-83db-b420de9da3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C71A55-57D7-487E-B8ED-FC84AD6EDB0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247CEB3-1F90-4BEB-85DB-9BD4729C8FD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93800B-B0B1-48D3-BE43-BEE22F3D5A27}"/>
</file>

<file path=docProps/app.xml><?xml version="1.0" encoding="utf-8"?>
<Properties xmlns="http://schemas.openxmlformats.org/officeDocument/2006/extended-properties" xmlns:vt="http://schemas.openxmlformats.org/officeDocument/2006/docPropsVTypes">
  <TotalTime>693</TotalTime>
  <Words>482</Words>
  <Application>Microsoft Office PowerPoint</Application>
  <PresentationFormat>Widescreen</PresentationFormat>
  <Paragraphs>55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Expt.-1: Small Angle Light Scattering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Expt.-1: Light Scattering</dc:title>
  <dc:creator>Bhavya Sharadbhai Sanghavi</dc:creator>
  <cp:lastModifiedBy>Bhavya Sharadbhai Sanghavi</cp:lastModifiedBy>
  <cp:revision>16</cp:revision>
  <dcterms:created xsi:type="dcterms:W3CDTF">2023-08-02T12:21:10Z</dcterms:created>
  <dcterms:modified xsi:type="dcterms:W3CDTF">2024-02-08T11:02:51Z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0x01010025DCBA2BFE3E4B45B87B87F18EDC8DC1</vt:lpwstr>
  </property>
</Properties>
</file>